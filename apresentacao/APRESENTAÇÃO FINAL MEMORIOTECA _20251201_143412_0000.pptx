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League Spartan" charset="1" panose="00000800000000000000"/>
      <p:regular r:id="rId27"/>
    </p:embeddedFont>
    <p:embeddedFont>
      <p:font typeface="Poppins Bold" charset="1" panose="00000800000000000000"/>
      <p:regular r:id="rId28"/>
    </p:embeddedFont>
    <p:embeddedFont>
      <p:font typeface="Montserrat" charset="1" panose="00000500000000000000"/>
      <p:regular r:id="rId29"/>
    </p:embeddedFont>
    <p:embeddedFont>
      <p:font typeface="Poppins" charset="1" panose="00000500000000000000"/>
      <p:regular r:id="rId30"/>
    </p:embeddedFont>
    <p:embeddedFont>
      <p:font typeface="Open Sans" charset="1" panose="020B0606030504020204"/>
      <p:regular r:id="rId31"/>
    </p:embeddedFont>
    <p:embeddedFont>
      <p:font typeface="Brittany" charset="1" panose="000000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2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2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2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2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2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25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49838" y="-1209837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8"/>
                </a:lnTo>
                <a:lnTo>
                  <a:pt x="0" y="7720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05048" y="0"/>
            <a:ext cx="3285731" cy="2855599"/>
          </a:xfrm>
          <a:custGeom>
            <a:avLst/>
            <a:gdLst/>
            <a:ahLst/>
            <a:cxnLst/>
            <a:rect r="r" b="b" t="t" l="l"/>
            <a:pathLst>
              <a:path h="2855599" w="3285731">
                <a:moveTo>
                  <a:pt x="0" y="0"/>
                </a:moveTo>
                <a:lnTo>
                  <a:pt x="3285731" y="0"/>
                </a:lnTo>
                <a:lnTo>
                  <a:pt x="3285731" y="2855599"/>
                </a:lnTo>
                <a:lnTo>
                  <a:pt x="0" y="28555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542793">
            <a:off x="12327367" y="4235771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542793">
            <a:off x="16544674" y="7764432"/>
            <a:ext cx="3285731" cy="2855599"/>
          </a:xfrm>
          <a:custGeom>
            <a:avLst/>
            <a:gdLst/>
            <a:ahLst/>
            <a:cxnLst/>
            <a:rect r="r" b="b" t="t" l="l"/>
            <a:pathLst>
              <a:path h="2855599" w="3285731">
                <a:moveTo>
                  <a:pt x="0" y="0"/>
                </a:moveTo>
                <a:lnTo>
                  <a:pt x="3285730" y="0"/>
                </a:lnTo>
                <a:lnTo>
                  <a:pt x="3285730" y="2855599"/>
                </a:lnTo>
                <a:lnTo>
                  <a:pt x="0" y="28555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38337" y="3917652"/>
            <a:ext cx="10607679" cy="1381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71"/>
              </a:lnSpc>
            </a:pPr>
            <a:r>
              <a:rPr lang="en-US" sz="10811">
                <a:solidFill>
                  <a:srgbClr val="38B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Memorioteca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296166">
            <a:off x="6725553" y="6703068"/>
            <a:ext cx="6050041" cy="1991013"/>
          </a:xfrm>
          <a:custGeom>
            <a:avLst/>
            <a:gdLst/>
            <a:ahLst/>
            <a:cxnLst/>
            <a:rect r="r" b="b" t="t" l="l"/>
            <a:pathLst>
              <a:path h="1991013" w="6050041">
                <a:moveTo>
                  <a:pt x="0" y="0"/>
                </a:moveTo>
                <a:lnTo>
                  <a:pt x="6050041" y="0"/>
                </a:lnTo>
                <a:lnTo>
                  <a:pt x="6050041" y="1991014"/>
                </a:lnTo>
                <a:lnTo>
                  <a:pt x="0" y="19910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858571" y="1377891"/>
            <a:ext cx="7367212" cy="1592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sz="4253" b="true">
                <a:solidFill>
                  <a:srgbClr val="BA8145"/>
                </a:solidFill>
                <a:latin typeface="Poppins Bold"/>
                <a:ea typeface="Poppins Bold"/>
                <a:cs typeface="Poppins Bold"/>
                <a:sym typeface="Poppins Bold"/>
              </a:rPr>
              <a:t>EIXO 5 - Análise e Desenvolvimento de Sistemas - 2025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257800"/>
            <a:ext cx="16873930" cy="500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5"/>
              </a:lnSpc>
            </a:pPr>
          </a:p>
          <a:p>
            <a:pPr algn="ctr">
              <a:lnSpc>
                <a:spcPts val="4395"/>
              </a:lnSpc>
            </a:pPr>
            <a:r>
              <a:rPr lang="en-US" sz="46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João Victor Antunes Faria Lima</a:t>
            </a:r>
          </a:p>
          <a:p>
            <a:pPr algn="ctr">
              <a:lnSpc>
                <a:spcPts val="4395"/>
              </a:lnSpc>
            </a:pPr>
            <a:r>
              <a:rPr lang="en-US" sz="46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Laila Suelen Martins Costa</a:t>
            </a:r>
          </a:p>
          <a:p>
            <a:pPr algn="ctr">
              <a:lnSpc>
                <a:spcPts val="4395"/>
              </a:lnSpc>
            </a:pPr>
            <a:r>
              <a:rPr lang="en-US" sz="46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Mayara da Rocha Pinheiro</a:t>
            </a:r>
          </a:p>
          <a:p>
            <a:pPr algn="ctr">
              <a:lnSpc>
                <a:spcPts val="4395"/>
              </a:lnSpc>
            </a:pPr>
            <a:r>
              <a:rPr lang="en-US" sz="46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Pedro de Souza Louzada Silva</a:t>
            </a:r>
          </a:p>
          <a:p>
            <a:pPr algn="ctr">
              <a:lnSpc>
                <a:spcPts val="4395"/>
              </a:lnSpc>
            </a:pPr>
            <a:r>
              <a:rPr lang="en-US" sz="46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Priscila Myuki do Nascimento Maruno</a:t>
            </a:r>
          </a:p>
          <a:p>
            <a:pPr algn="ctr">
              <a:lnSpc>
                <a:spcPts val="4395"/>
              </a:lnSpc>
            </a:pPr>
          </a:p>
          <a:p>
            <a:pPr algn="ctr">
              <a:lnSpc>
                <a:spcPts val="4395"/>
              </a:lnSpc>
            </a:pPr>
            <a:r>
              <a:rPr lang="en-US" sz="46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Prof: José Wilson da Costa </a:t>
            </a:r>
          </a:p>
          <a:p>
            <a:pPr algn="ctr">
              <a:lnSpc>
                <a:spcPts val="4395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10929">
            <a:off x="-728022" y="6567306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1" y="0"/>
                </a:lnTo>
                <a:lnTo>
                  <a:pt x="8261041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447303">
            <a:off x="12849015" y="-1974713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21012" y="1651456"/>
            <a:ext cx="11187762" cy="108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6"/>
              </a:lnSpc>
            </a:pPr>
            <a:r>
              <a:rPr lang="en-US" sz="7891">
                <a:solidFill>
                  <a:srgbClr val="BA8145"/>
                </a:solidFill>
                <a:latin typeface="Poppins"/>
                <a:ea typeface="Poppins"/>
                <a:cs typeface="Poppins"/>
                <a:sym typeface="Poppins"/>
              </a:rPr>
              <a:t>Cliente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10542793">
            <a:off x="12552110" y="6337371"/>
            <a:ext cx="5562977" cy="4834732"/>
          </a:xfrm>
          <a:custGeom>
            <a:avLst/>
            <a:gdLst/>
            <a:ahLst/>
            <a:cxnLst/>
            <a:rect r="r" b="b" t="t" l="l"/>
            <a:pathLst>
              <a:path h="4834732" w="5562977">
                <a:moveTo>
                  <a:pt x="0" y="0"/>
                </a:moveTo>
                <a:lnTo>
                  <a:pt x="5562977" y="0"/>
                </a:lnTo>
                <a:lnTo>
                  <a:pt x="5562977" y="4834733"/>
                </a:lnTo>
                <a:lnTo>
                  <a:pt x="0" y="48347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54402" y="3508037"/>
            <a:ext cx="12379197" cy="592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5"/>
              </a:lnSpc>
            </a:pPr>
            <a:r>
              <a:rPr lang="en-US" sz="4217">
                <a:solidFill>
                  <a:srgbClr val="BA8145"/>
                </a:solidFill>
                <a:latin typeface="Open Sans"/>
                <a:ea typeface="Open Sans"/>
                <a:cs typeface="Open Sans"/>
                <a:sym typeface="Open Sans"/>
              </a:rPr>
              <a:t>A biblioteca, coordenada por uma das bibliotecárias, Andresa Amaral, foi responsável por diversos projetos ao longo do ano, e não possui um espaço adequado para registrar e preservar a memória dessas iniciativas. Falta um ambiente centralizado que organize as produções, mantenha o histórico e facilite o acesso ao material desenvolvido.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10929">
            <a:off x="-728022" y="6567306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1" y="0"/>
                </a:lnTo>
                <a:lnTo>
                  <a:pt x="8261041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447303">
            <a:off x="12849015" y="-1974713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21012" y="1651456"/>
            <a:ext cx="11187762" cy="108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6"/>
              </a:lnSpc>
            </a:pPr>
            <a:r>
              <a:rPr lang="en-US" sz="7891">
                <a:solidFill>
                  <a:srgbClr val="BA8145"/>
                </a:solidFill>
                <a:latin typeface="Poppins"/>
                <a:ea typeface="Poppins"/>
                <a:cs typeface="Poppins"/>
                <a:sym typeface="Poppins"/>
              </a:rPr>
              <a:t>OBJETIVO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10542793">
            <a:off x="12552110" y="6337371"/>
            <a:ext cx="5562977" cy="4834732"/>
          </a:xfrm>
          <a:custGeom>
            <a:avLst/>
            <a:gdLst/>
            <a:ahLst/>
            <a:cxnLst/>
            <a:rect r="r" b="b" t="t" l="l"/>
            <a:pathLst>
              <a:path h="4834732" w="5562977">
                <a:moveTo>
                  <a:pt x="0" y="0"/>
                </a:moveTo>
                <a:lnTo>
                  <a:pt x="5562977" y="0"/>
                </a:lnTo>
                <a:lnTo>
                  <a:pt x="5562977" y="4834733"/>
                </a:lnTo>
                <a:lnTo>
                  <a:pt x="0" y="48347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54402" y="3508037"/>
            <a:ext cx="12379197" cy="592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5"/>
              </a:lnSpc>
            </a:pPr>
            <a:r>
              <a:rPr lang="en-US" sz="4217">
                <a:solidFill>
                  <a:srgbClr val="BA8145"/>
                </a:solidFill>
                <a:latin typeface="Open Sans"/>
                <a:ea typeface="Open Sans"/>
                <a:cs typeface="Open Sans"/>
                <a:sym typeface="Open Sans"/>
              </a:rPr>
              <a:t>O objetivo da aplicação é criar um espaço digital que preserve a memória dos projetos vinculados à biblioteca, reunindo registros, produções e materiais de forma organizada, acessível e duradoura. A ideia é garantir que essas iniciativas não se percam ao longo do tempo e possam ser consultadas com facilidade pela comunidade escolar.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10929">
            <a:off x="-728022" y="6567306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1" y="0"/>
                </a:lnTo>
                <a:lnTo>
                  <a:pt x="8261041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447303">
            <a:off x="12849015" y="-1974713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21012" y="1651456"/>
            <a:ext cx="11187762" cy="108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6"/>
              </a:lnSpc>
            </a:pPr>
            <a:r>
              <a:rPr lang="en-US" sz="7891">
                <a:solidFill>
                  <a:srgbClr val="BA8145"/>
                </a:solidFill>
                <a:latin typeface="Poppins"/>
                <a:ea typeface="Poppins"/>
                <a:cs typeface="Poppins"/>
                <a:sym typeface="Poppins"/>
              </a:rPr>
              <a:t>Telas principais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10542793">
            <a:off x="12552110" y="6337371"/>
            <a:ext cx="5562977" cy="4834732"/>
          </a:xfrm>
          <a:custGeom>
            <a:avLst/>
            <a:gdLst/>
            <a:ahLst/>
            <a:cxnLst/>
            <a:rect r="r" b="b" t="t" l="l"/>
            <a:pathLst>
              <a:path h="4834732" w="5562977">
                <a:moveTo>
                  <a:pt x="0" y="0"/>
                </a:moveTo>
                <a:lnTo>
                  <a:pt x="5562977" y="0"/>
                </a:lnTo>
                <a:lnTo>
                  <a:pt x="5562977" y="4834733"/>
                </a:lnTo>
                <a:lnTo>
                  <a:pt x="0" y="48347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08464" y="3461300"/>
            <a:ext cx="15671072" cy="534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2"/>
              </a:lnSpc>
            </a:pPr>
            <a:r>
              <a:rPr lang="en-US" sz="3801">
                <a:solidFill>
                  <a:srgbClr val="BA8145"/>
                </a:solidFill>
                <a:latin typeface="Open Sans"/>
                <a:ea typeface="Open Sans"/>
                <a:cs typeface="Open Sans"/>
                <a:sym typeface="Open Sans"/>
              </a:rPr>
              <a:t>A aplicação conta com as telas básicas de login e cadastro, além da tela principal onde ficam os projetos em destaque. Também há a aba Projetos, responsável por exibir o acervo completo, permitir novos cadastros. E uma aba de Entrar em Contato, criada para que pessoas externas possam se comunicar com a biblioteca seja para propor parcerias, enviar sugestões ou dialogar sobre novos projetos. E também há o controle de usuários vinculados ao uso do sistema através de permissões.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670" t="0" r="-36204" b="-409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10929">
            <a:off x="-728022" y="6567306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1" y="0"/>
                </a:lnTo>
                <a:lnTo>
                  <a:pt x="8261041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447303">
            <a:off x="12135029" y="-3056532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6392871" cy="11381562"/>
          </a:xfrm>
          <a:custGeom>
            <a:avLst/>
            <a:gdLst/>
            <a:ahLst/>
            <a:cxnLst/>
            <a:rect r="r" b="b" t="t" l="l"/>
            <a:pathLst>
              <a:path h="11381562" w="6392871">
                <a:moveTo>
                  <a:pt x="0" y="0"/>
                </a:moveTo>
                <a:lnTo>
                  <a:pt x="6392871" y="0"/>
                </a:lnTo>
                <a:lnTo>
                  <a:pt x="6392871" y="11381562"/>
                </a:lnTo>
                <a:lnTo>
                  <a:pt x="0" y="113815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374540" y="1123950"/>
            <a:ext cx="5269102" cy="896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6"/>
              </a:lnSpc>
            </a:pPr>
            <a:r>
              <a:rPr lang="en-US" sz="6522">
                <a:solidFill>
                  <a:srgbClr val="CE9457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80541" y="4293131"/>
            <a:ext cx="10378759" cy="3093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73"/>
              </a:lnSpc>
              <a:spcBef>
                <a:spcPct val="0"/>
              </a:spcBef>
            </a:pPr>
            <a:r>
              <a:rPr lang="en-US" sz="4337">
                <a:solidFill>
                  <a:srgbClr val="F0E8DD"/>
                </a:solidFill>
                <a:latin typeface="Poppins"/>
                <a:ea typeface="Poppins"/>
                <a:cs typeface="Poppins"/>
                <a:sym typeface="Poppins"/>
              </a:rPr>
              <a:t>A aplicação começa pela tela principal, onde são apresentados os projetos em destaque, funcionando como a entrada visual do sistema.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670" t="0" r="-36204" b="-409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10929">
            <a:off x="-728022" y="6567306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1" y="0"/>
                </a:lnTo>
                <a:lnTo>
                  <a:pt x="8261041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447303">
            <a:off x="12135029" y="-3056532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9724" y="420889"/>
            <a:ext cx="5242098" cy="9445222"/>
          </a:xfrm>
          <a:custGeom>
            <a:avLst/>
            <a:gdLst/>
            <a:ahLst/>
            <a:cxnLst/>
            <a:rect r="r" b="b" t="t" l="l"/>
            <a:pathLst>
              <a:path h="9445222" w="5242098">
                <a:moveTo>
                  <a:pt x="0" y="0"/>
                </a:moveTo>
                <a:lnTo>
                  <a:pt x="5242098" y="0"/>
                </a:lnTo>
                <a:lnTo>
                  <a:pt x="5242098" y="9445222"/>
                </a:lnTo>
                <a:lnTo>
                  <a:pt x="0" y="94452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374540" y="1123950"/>
            <a:ext cx="5269102" cy="896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6"/>
              </a:lnSpc>
            </a:pPr>
            <a:r>
              <a:rPr lang="en-US" sz="6522">
                <a:solidFill>
                  <a:srgbClr val="CE9457"/>
                </a:solidFill>
                <a:latin typeface="Poppins"/>
                <a:ea typeface="Poppins"/>
                <a:cs typeface="Poppins"/>
                <a:sym typeface="Poppins"/>
              </a:rPr>
              <a:t>Projetos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80541" y="4293131"/>
            <a:ext cx="10378759" cy="2323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73"/>
              </a:lnSpc>
              <a:spcBef>
                <a:spcPct val="0"/>
              </a:spcBef>
            </a:pPr>
            <a:r>
              <a:rPr lang="en-US" sz="4337">
                <a:solidFill>
                  <a:srgbClr val="F0E8DD"/>
                </a:solidFill>
                <a:latin typeface="Poppins"/>
                <a:ea typeface="Poppins"/>
                <a:cs typeface="Poppins"/>
                <a:sym typeface="Poppins"/>
              </a:rPr>
              <a:t>A aba Projetos reúne todos os registros já cadastrados, permitindo navegar pelo acervo completo.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670" t="0" r="-36204" b="-409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10929">
            <a:off x="-728022" y="6567306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1" y="0"/>
                </a:lnTo>
                <a:lnTo>
                  <a:pt x="8261041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447303">
            <a:off x="12135029" y="-3056532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72189" y="503801"/>
            <a:ext cx="5460619" cy="8754499"/>
          </a:xfrm>
          <a:custGeom>
            <a:avLst/>
            <a:gdLst/>
            <a:ahLst/>
            <a:cxnLst/>
            <a:rect r="r" b="b" t="t" l="l"/>
            <a:pathLst>
              <a:path h="8754499" w="5460619">
                <a:moveTo>
                  <a:pt x="0" y="0"/>
                </a:moveTo>
                <a:lnTo>
                  <a:pt x="5460619" y="0"/>
                </a:lnTo>
                <a:lnTo>
                  <a:pt x="5460619" y="8754499"/>
                </a:lnTo>
                <a:lnTo>
                  <a:pt x="0" y="87544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374540" y="1123950"/>
            <a:ext cx="5269102" cy="896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6"/>
              </a:lnSpc>
            </a:pPr>
            <a:r>
              <a:rPr lang="en-US" sz="6522">
                <a:solidFill>
                  <a:srgbClr val="CE9457"/>
                </a:solidFill>
                <a:latin typeface="Poppins"/>
                <a:ea typeface="Poppins"/>
                <a:cs typeface="Poppins"/>
                <a:sym typeface="Poppins"/>
              </a:rPr>
              <a:t>Projetos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80541" y="4293131"/>
            <a:ext cx="10378759" cy="2323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73"/>
              </a:lnSpc>
              <a:spcBef>
                <a:spcPct val="0"/>
              </a:spcBef>
            </a:pPr>
            <a:r>
              <a:rPr lang="en-US" sz="4337">
                <a:solidFill>
                  <a:srgbClr val="F0E8DD"/>
                </a:solidFill>
                <a:latin typeface="Poppins"/>
                <a:ea typeface="Poppins"/>
                <a:cs typeface="Poppins"/>
                <a:sym typeface="Poppins"/>
              </a:rPr>
              <a:t>A aba Projetos reúne todos os registros já cadastrados, permitindo navegar pelo acervo completo.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670" t="0" r="-36204" b="-409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10929">
            <a:off x="-728022" y="6567306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1" y="0"/>
                </a:lnTo>
                <a:lnTo>
                  <a:pt x="8261041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447303">
            <a:off x="12135029" y="-3056532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9308" y="720252"/>
            <a:ext cx="6351233" cy="7858106"/>
          </a:xfrm>
          <a:custGeom>
            <a:avLst/>
            <a:gdLst/>
            <a:ahLst/>
            <a:cxnLst/>
            <a:rect r="r" b="b" t="t" l="l"/>
            <a:pathLst>
              <a:path h="7858106" w="6351233">
                <a:moveTo>
                  <a:pt x="0" y="0"/>
                </a:moveTo>
                <a:lnTo>
                  <a:pt x="6351233" y="0"/>
                </a:lnTo>
                <a:lnTo>
                  <a:pt x="6351233" y="7858105"/>
                </a:lnTo>
                <a:lnTo>
                  <a:pt x="0" y="7858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374540" y="1123950"/>
            <a:ext cx="5269102" cy="896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6"/>
              </a:lnSpc>
            </a:pPr>
            <a:r>
              <a:rPr lang="en-US" sz="6522">
                <a:solidFill>
                  <a:srgbClr val="CE9457"/>
                </a:solidFill>
                <a:latin typeface="Poppins"/>
                <a:ea typeface="Poppins"/>
                <a:cs typeface="Poppins"/>
                <a:sym typeface="Poppins"/>
              </a:rPr>
              <a:t>CADASTRO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06301" y="4293131"/>
            <a:ext cx="8927239" cy="3093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73"/>
              </a:lnSpc>
              <a:spcBef>
                <a:spcPct val="0"/>
              </a:spcBef>
            </a:pPr>
            <a:r>
              <a:rPr lang="en-US" sz="4337">
                <a:solidFill>
                  <a:srgbClr val="F0E8DD"/>
                </a:solidFill>
                <a:latin typeface="Poppins"/>
                <a:ea typeface="Poppins"/>
                <a:cs typeface="Poppins"/>
                <a:sym typeface="Poppins"/>
              </a:rPr>
              <a:t>Em Cadastrar Novo Projeto você pode inserir novos projetos e manter o fluxo de atualização ativo.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670" t="0" r="-36204" b="-409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10929">
            <a:off x="-728022" y="6567306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1" y="0"/>
                </a:lnTo>
                <a:lnTo>
                  <a:pt x="8261041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447303">
            <a:off x="12135029" y="-3056532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659956" y="2153472"/>
            <a:ext cx="6698270" cy="6262882"/>
          </a:xfrm>
          <a:custGeom>
            <a:avLst/>
            <a:gdLst/>
            <a:ahLst/>
            <a:cxnLst/>
            <a:rect r="r" b="b" t="t" l="l"/>
            <a:pathLst>
              <a:path h="6262882" w="6698270">
                <a:moveTo>
                  <a:pt x="0" y="0"/>
                </a:moveTo>
                <a:lnTo>
                  <a:pt x="6698270" y="0"/>
                </a:lnTo>
                <a:lnTo>
                  <a:pt x="6698270" y="6262883"/>
                </a:lnTo>
                <a:lnTo>
                  <a:pt x="0" y="62628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374540" y="1123950"/>
            <a:ext cx="5269102" cy="896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6"/>
              </a:lnSpc>
            </a:pPr>
            <a:r>
              <a:rPr lang="en-US" sz="6522">
                <a:solidFill>
                  <a:srgbClr val="CE9457"/>
                </a:solidFill>
                <a:latin typeface="Poppins"/>
                <a:ea typeface="Poppins"/>
                <a:cs typeface="Poppins"/>
                <a:sym typeface="Poppins"/>
              </a:rPr>
              <a:t>CADASTRO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9989" y="1761622"/>
            <a:ext cx="4465018" cy="617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73"/>
              </a:lnSpc>
              <a:spcBef>
                <a:spcPct val="0"/>
              </a:spcBef>
            </a:pPr>
            <a:r>
              <a:rPr lang="en-US" sz="4337">
                <a:solidFill>
                  <a:srgbClr val="F0E8DD"/>
                </a:solidFill>
                <a:latin typeface="Poppins"/>
                <a:ea typeface="Poppins"/>
                <a:cs typeface="Poppins"/>
                <a:sym typeface="Poppins"/>
              </a:rPr>
              <a:t>Em Cadastrar Novo Projeto você pode inserir novos projetos e manter o fluxo de atualização ativo.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670" t="0" r="-36204" b="-409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10929">
            <a:off x="-728022" y="6567306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1" y="0"/>
                </a:lnTo>
                <a:lnTo>
                  <a:pt x="8261041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447303">
            <a:off x="12135029" y="-3056532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08819" y="2729562"/>
            <a:ext cx="7220043" cy="7156867"/>
          </a:xfrm>
          <a:custGeom>
            <a:avLst/>
            <a:gdLst/>
            <a:ahLst/>
            <a:cxnLst/>
            <a:rect r="r" b="b" t="t" l="l"/>
            <a:pathLst>
              <a:path h="7156867" w="7220043">
                <a:moveTo>
                  <a:pt x="0" y="0"/>
                </a:moveTo>
                <a:lnTo>
                  <a:pt x="7220042" y="0"/>
                </a:lnTo>
                <a:lnTo>
                  <a:pt x="7220042" y="7156868"/>
                </a:lnTo>
                <a:lnTo>
                  <a:pt x="0" y="71568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374540" y="1123950"/>
            <a:ext cx="5269102" cy="896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6"/>
              </a:lnSpc>
            </a:pPr>
            <a:r>
              <a:rPr lang="en-US" sz="6522">
                <a:solidFill>
                  <a:srgbClr val="CE9457"/>
                </a:solidFill>
                <a:latin typeface="Poppins"/>
                <a:ea typeface="Poppins"/>
                <a:cs typeface="Poppins"/>
                <a:sym typeface="Poppins"/>
              </a:rPr>
              <a:t>CADASTRO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9989" y="1761622"/>
            <a:ext cx="4465018" cy="617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73"/>
              </a:lnSpc>
              <a:spcBef>
                <a:spcPct val="0"/>
              </a:spcBef>
            </a:pPr>
            <a:r>
              <a:rPr lang="en-US" sz="4337">
                <a:solidFill>
                  <a:srgbClr val="F0E8DD"/>
                </a:solidFill>
                <a:latin typeface="Poppins"/>
                <a:ea typeface="Poppins"/>
                <a:cs typeface="Poppins"/>
                <a:sym typeface="Poppins"/>
              </a:rPr>
              <a:t>Em Cadastrar Novo Projeto você pode inserir novos projetos e manter o fluxo de atualização ativo.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670" t="0" r="-36204" b="-409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10929">
            <a:off x="-728022" y="6567306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1" y="0"/>
                </a:lnTo>
                <a:lnTo>
                  <a:pt x="8261041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447303">
            <a:off x="12135029" y="-3056532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39069" y="495811"/>
            <a:ext cx="6298039" cy="8762489"/>
          </a:xfrm>
          <a:custGeom>
            <a:avLst/>
            <a:gdLst/>
            <a:ahLst/>
            <a:cxnLst/>
            <a:rect r="r" b="b" t="t" l="l"/>
            <a:pathLst>
              <a:path h="8762489" w="6298039">
                <a:moveTo>
                  <a:pt x="0" y="0"/>
                </a:moveTo>
                <a:lnTo>
                  <a:pt x="6298039" y="0"/>
                </a:lnTo>
                <a:lnTo>
                  <a:pt x="6298039" y="8762489"/>
                </a:lnTo>
                <a:lnTo>
                  <a:pt x="0" y="876248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374540" y="1123950"/>
            <a:ext cx="5269102" cy="896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6"/>
              </a:lnSpc>
            </a:pPr>
            <a:r>
              <a:rPr lang="en-US" sz="6522">
                <a:solidFill>
                  <a:srgbClr val="CE9457"/>
                </a:solidFill>
                <a:latin typeface="Poppins"/>
                <a:ea typeface="Poppins"/>
                <a:cs typeface="Poppins"/>
                <a:sym typeface="Poppins"/>
              </a:rPr>
              <a:t>CONTATO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24239" y="3523147"/>
            <a:ext cx="8541311" cy="4633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73"/>
              </a:lnSpc>
              <a:spcBef>
                <a:spcPct val="0"/>
              </a:spcBef>
            </a:pPr>
            <a:r>
              <a:rPr lang="en-US" sz="4337">
                <a:solidFill>
                  <a:srgbClr val="F0E8DD"/>
                </a:solidFill>
                <a:latin typeface="Poppins"/>
                <a:ea typeface="Poppins"/>
                <a:cs typeface="Poppins"/>
                <a:sym typeface="Poppins"/>
              </a:rPr>
              <a:t> A aba Contato foi criada para que pessoas externas possam se comunicar diretamente com a biblioteca, seja para sugerir parcerias ou dialogar sobre iniciativas.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670" t="0" r="-36204" b="-409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10929">
            <a:off x="-728022" y="6567306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1" y="0"/>
                </a:lnTo>
                <a:lnTo>
                  <a:pt x="8261041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447303">
            <a:off x="12135029" y="-3056532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565260"/>
            <a:ext cx="5572658" cy="9156480"/>
          </a:xfrm>
          <a:custGeom>
            <a:avLst/>
            <a:gdLst/>
            <a:ahLst/>
            <a:cxnLst/>
            <a:rect r="r" b="b" t="t" l="l"/>
            <a:pathLst>
              <a:path h="9156480" w="5572658">
                <a:moveTo>
                  <a:pt x="0" y="0"/>
                </a:moveTo>
                <a:lnTo>
                  <a:pt x="5572658" y="0"/>
                </a:lnTo>
                <a:lnTo>
                  <a:pt x="5572658" y="9156480"/>
                </a:lnTo>
                <a:lnTo>
                  <a:pt x="0" y="91564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7962" r="0" b="-796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374540" y="1123950"/>
            <a:ext cx="5269102" cy="896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6"/>
              </a:lnSpc>
            </a:pPr>
            <a:r>
              <a:rPr lang="en-US" sz="6522">
                <a:solidFill>
                  <a:srgbClr val="CE9457"/>
                </a:solidFill>
                <a:latin typeface="Poppins"/>
                <a:ea typeface="Poppins"/>
                <a:cs typeface="Poppins"/>
                <a:sym typeface="Poppins"/>
              </a:rPr>
              <a:t>CONTATO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24239" y="3523147"/>
            <a:ext cx="8541311" cy="4633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73"/>
              </a:lnSpc>
              <a:spcBef>
                <a:spcPct val="0"/>
              </a:spcBef>
            </a:pPr>
            <a:r>
              <a:rPr lang="en-US" sz="4337">
                <a:solidFill>
                  <a:srgbClr val="F0E8DD"/>
                </a:solidFill>
                <a:latin typeface="Poppins"/>
                <a:ea typeface="Poppins"/>
                <a:cs typeface="Poppins"/>
                <a:sym typeface="Poppins"/>
              </a:rPr>
              <a:t> A aba Contato foi criada para que pessoas externas possam se comunicar diretamente com a biblioteca, seja para sugerir parcerias ou dialogar sobre iniciativas.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670" t="0" r="-36204" b="-409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10929">
            <a:off x="-728022" y="6567306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1" y="0"/>
                </a:lnTo>
                <a:lnTo>
                  <a:pt x="8261041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447303">
            <a:off x="12135029" y="-3056532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716281"/>
            <a:ext cx="5712475" cy="8542019"/>
          </a:xfrm>
          <a:custGeom>
            <a:avLst/>
            <a:gdLst/>
            <a:ahLst/>
            <a:cxnLst/>
            <a:rect r="r" b="b" t="t" l="l"/>
            <a:pathLst>
              <a:path h="8542019" w="5712475">
                <a:moveTo>
                  <a:pt x="0" y="0"/>
                </a:moveTo>
                <a:lnTo>
                  <a:pt x="5712475" y="0"/>
                </a:lnTo>
                <a:lnTo>
                  <a:pt x="5712475" y="8542019"/>
                </a:lnTo>
                <a:lnTo>
                  <a:pt x="0" y="85420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374540" y="1123950"/>
            <a:ext cx="5269102" cy="1680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6"/>
              </a:lnSpc>
            </a:pPr>
            <a:r>
              <a:rPr lang="en-US" sz="6522">
                <a:solidFill>
                  <a:srgbClr val="CE9457"/>
                </a:solidFill>
                <a:latin typeface="Poppins"/>
                <a:ea typeface="Poppins"/>
                <a:cs typeface="Poppins"/>
                <a:sym typeface="Poppins"/>
              </a:rPr>
              <a:t>CONTROLE DE USUARIOS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24239" y="3523147"/>
            <a:ext cx="8541311" cy="4633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73"/>
              </a:lnSpc>
              <a:spcBef>
                <a:spcPct val="0"/>
              </a:spcBef>
            </a:pPr>
            <a:r>
              <a:rPr lang="en-US" sz="4337">
                <a:solidFill>
                  <a:srgbClr val="F0E8DD"/>
                </a:solidFill>
                <a:latin typeface="Poppins"/>
                <a:ea typeface="Poppins"/>
                <a:cs typeface="Poppins"/>
                <a:sym typeface="Poppins"/>
              </a:rPr>
              <a:t>Por fim, há uma seção específica para o controle de usuários, onde são gerenciados os perfis vinculados ao sistema e seus respectivos acessos.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670" t="0" r="-36204" b="-409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10929">
            <a:off x="-728022" y="6567306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1" y="0"/>
                </a:lnTo>
                <a:lnTo>
                  <a:pt x="8261041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447303">
            <a:off x="12135029" y="-3056532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9501" y="388702"/>
            <a:ext cx="6275240" cy="8869598"/>
          </a:xfrm>
          <a:custGeom>
            <a:avLst/>
            <a:gdLst/>
            <a:ahLst/>
            <a:cxnLst/>
            <a:rect r="r" b="b" t="t" l="l"/>
            <a:pathLst>
              <a:path h="8869598" w="6275240">
                <a:moveTo>
                  <a:pt x="0" y="0"/>
                </a:moveTo>
                <a:lnTo>
                  <a:pt x="6275240" y="0"/>
                </a:lnTo>
                <a:lnTo>
                  <a:pt x="6275240" y="8869598"/>
                </a:lnTo>
                <a:lnTo>
                  <a:pt x="0" y="88695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374540" y="1123950"/>
            <a:ext cx="5269102" cy="1680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6"/>
              </a:lnSpc>
            </a:pPr>
            <a:r>
              <a:rPr lang="en-US" sz="6522">
                <a:solidFill>
                  <a:srgbClr val="CE9457"/>
                </a:solidFill>
                <a:latin typeface="Poppins"/>
                <a:ea typeface="Poppins"/>
                <a:cs typeface="Poppins"/>
                <a:sym typeface="Poppins"/>
              </a:rPr>
              <a:t>CONTROLE DE USUARIOS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24239" y="3523147"/>
            <a:ext cx="8541311" cy="4633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73"/>
              </a:lnSpc>
              <a:spcBef>
                <a:spcPct val="0"/>
              </a:spcBef>
            </a:pPr>
            <a:r>
              <a:rPr lang="en-US" sz="4337">
                <a:solidFill>
                  <a:srgbClr val="F0E8DD"/>
                </a:solidFill>
                <a:latin typeface="Poppins"/>
                <a:ea typeface="Poppins"/>
                <a:cs typeface="Poppins"/>
                <a:sym typeface="Poppins"/>
              </a:rPr>
              <a:t>Por fim, há uma seção específica para o controle de usuários, onde são gerenciados os perfis vinculados ao sistema e seus respectivos acessos.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10929">
            <a:off x="-728022" y="6567306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1" y="0"/>
                </a:lnTo>
                <a:lnTo>
                  <a:pt x="8261041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542793">
            <a:off x="13097588" y="6455407"/>
            <a:ext cx="5562977" cy="4834732"/>
          </a:xfrm>
          <a:custGeom>
            <a:avLst/>
            <a:gdLst/>
            <a:ahLst/>
            <a:cxnLst/>
            <a:rect r="r" b="b" t="t" l="l"/>
            <a:pathLst>
              <a:path h="4834732" w="5562977">
                <a:moveTo>
                  <a:pt x="0" y="0"/>
                </a:moveTo>
                <a:lnTo>
                  <a:pt x="5562977" y="0"/>
                </a:lnTo>
                <a:lnTo>
                  <a:pt x="5562977" y="4834732"/>
                </a:lnTo>
                <a:lnTo>
                  <a:pt x="0" y="48347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447303">
            <a:off x="12849015" y="-1974713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09767" y="346754"/>
            <a:ext cx="9764265" cy="2565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5"/>
              </a:lnSpc>
            </a:pPr>
            <a:r>
              <a:rPr lang="en-US" sz="6752">
                <a:solidFill>
                  <a:srgbClr val="BA8145"/>
                </a:solidFill>
                <a:latin typeface="Poppins"/>
                <a:ea typeface="Poppins"/>
                <a:cs typeface="Poppins"/>
                <a:sym typeface="Poppins"/>
              </a:rPr>
              <a:t>PONTOS POSITIVOS EXPERIÊNCIA EXTENSIONISTA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02819" y="3219010"/>
            <a:ext cx="14476717" cy="643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59"/>
              </a:lnSpc>
              <a:spcBef>
                <a:spcPct val="0"/>
              </a:spcBef>
            </a:pPr>
            <a:r>
              <a:rPr lang="en-US" sz="4542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A experiência extensionista permitiu vivenciar de perto a dinâmica real do mercado de trabalho, especialmente no que envolve lidar com demandas concretas e expectativas de um cliente. Esse contato direto trouxe senso de responsabilidade, aprimorou a comunicação da equipe e ampliou o aprendizado técnico e prático.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10929">
            <a:off x="-728022" y="6567306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1" y="0"/>
                </a:lnTo>
                <a:lnTo>
                  <a:pt x="8261041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542793">
            <a:off x="13097588" y="6455407"/>
            <a:ext cx="5562977" cy="4834732"/>
          </a:xfrm>
          <a:custGeom>
            <a:avLst/>
            <a:gdLst/>
            <a:ahLst/>
            <a:cxnLst/>
            <a:rect r="r" b="b" t="t" l="l"/>
            <a:pathLst>
              <a:path h="4834732" w="5562977">
                <a:moveTo>
                  <a:pt x="0" y="0"/>
                </a:moveTo>
                <a:lnTo>
                  <a:pt x="5562977" y="0"/>
                </a:lnTo>
                <a:lnTo>
                  <a:pt x="5562977" y="4834732"/>
                </a:lnTo>
                <a:lnTo>
                  <a:pt x="0" y="48347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447303">
            <a:off x="12849015" y="-1974713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09767" y="346754"/>
            <a:ext cx="9764265" cy="2565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5"/>
              </a:lnSpc>
            </a:pPr>
            <a:r>
              <a:rPr lang="en-US" sz="6752">
                <a:solidFill>
                  <a:srgbClr val="BA8145"/>
                </a:solidFill>
                <a:latin typeface="Poppins"/>
                <a:ea typeface="Poppins"/>
                <a:cs typeface="Poppins"/>
                <a:sym typeface="Poppins"/>
              </a:rPr>
              <a:t>PONTOS POSITIVOS EXPERIÊNCIA EXTENSIONISTA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02819" y="3738263"/>
            <a:ext cx="14476717" cy="5520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84"/>
              </a:lnSpc>
              <a:spcBef>
                <a:spcPct val="0"/>
              </a:spcBef>
            </a:pPr>
            <a:r>
              <a:rPr lang="en-US" sz="5203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Além disso, o processo proporcionou o desenvolvimento de novas habilidades e reforçou o entendimento de como a aplicação do conhecimento acadêmico ganha profundidade quando inserida em um contexto vivo.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10929">
            <a:off x="-728022" y="6567306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1" y="0"/>
                </a:lnTo>
                <a:lnTo>
                  <a:pt x="8261041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542793">
            <a:off x="13097588" y="6455407"/>
            <a:ext cx="5562977" cy="4834732"/>
          </a:xfrm>
          <a:custGeom>
            <a:avLst/>
            <a:gdLst/>
            <a:ahLst/>
            <a:cxnLst/>
            <a:rect r="r" b="b" t="t" l="l"/>
            <a:pathLst>
              <a:path h="4834732" w="5562977">
                <a:moveTo>
                  <a:pt x="0" y="0"/>
                </a:moveTo>
                <a:lnTo>
                  <a:pt x="5562977" y="0"/>
                </a:lnTo>
                <a:lnTo>
                  <a:pt x="5562977" y="4834732"/>
                </a:lnTo>
                <a:lnTo>
                  <a:pt x="0" y="48347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447303">
            <a:off x="12849015" y="-1974713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09767" y="1971172"/>
            <a:ext cx="9764265" cy="94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5"/>
              </a:lnSpc>
            </a:pPr>
            <a:r>
              <a:rPr lang="en-US" sz="6752">
                <a:solidFill>
                  <a:srgbClr val="BA8145"/>
                </a:solidFill>
                <a:latin typeface="Poppins"/>
                <a:ea typeface="Poppins"/>
                <a:cs typeface="Poppins"/>
                <a:sym typeface="Poppins"/>
              </a:rPr>
              <a:t>DESAFIOS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02819" y="3738263"/>
            <a:ext cx="14476717" cy="3683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84"/>
              </a:lnSpc>
              <a:spcBef>
                <a:spcPct val="0"/>
              </a:spcBef>
            </a:pPr>
            <a:r>
              <a:rPr lang="en-US" sz="5203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O principal desafio da equipe foi lidar com o receio de não atender plenamente às demandas do cliente, o que gerou insegurança durante o processo.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10929">
            <a:off x="-728022" y="6567306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1" y="0"/>
                </a:lnTo>
                <a:lnTo>
                  <a:pt x="8261041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542793">
            <a:off x="13097588" y="6455407"/>
            <a:ext cx="5562977" cy="4834732"/>
          </a:xfrm>
          <a:custGeom>
            <a:avLst/>
            <a:gdLst/>
            <a:ahLst/>
            <a:cxnLst/>
            <a:rect r="r" b="b" t="t" l="l"/>
            <a:pathLst>
              <a:path h="4834732" w="5562977">
                <a:moveTo>
                  <a:pt x="0" y="0"/>
                </a:moveTo>
                <a:lnTo>
                  <a:pt x="5562977" y="0"/>
                </a:lnTo>
                <a:lnTo>
                  <a:pt x="5562977" y="4834732"/>
                </a:lnTo>
                <a:lnTo>
                  <a:pt x="0" y="48347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447303">
            <a:off x="12849015" y="-1974713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09767" y="1971172"/>
            <a:ext cx="9764265" cy="94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5"/>
              </a:lnSpc>
            </a:pPr>
            <a:r>
              <a:rPr lang="en-US" sz="6752">
                <a:solidFill>
                  <a:srgbClr val="BA8145"/>
                </a:solidFill>
                <a:latin typeface="Poppins"/>
                <a:ea typeface="Poppins"/>
                <a:cs typeface="Poppins"/>
                <a:sym typeface="Poppins"/>
              </a:rPr>
              <a:t>DESAFIOS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39701" y="3505279"/>
            <a:ext cx="13504397" cy="6122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67"/>
              </a:lnSpc>
              <a:spcBef>
                <a:spcPct val="0"/>
              </a:spcBef>
            </a:pPr>
            <a:r>
              <a:rPr lang="en-US" sz="4333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O aspecto técnico da programação trouxe medo e tensão, especialmente pela responsabilidade de entregar uma aplicação funcional dentro de prazos e expectativas reais. Essa combinação entre pressão técnica e preocupação com a qualidade do atendimento ao cliente fez da experiência um exercício constante de superação e adaptação.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10929">
            <a:off x="-728022" y="6567306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1" y="0"/>
                </a:lnTo>
                <a:lnTo>
                  <a:pt x="8261041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542793">
            <a:off x="13097588" y="6455407"/>
            <a:ext cx="5562977" cy="4834732"/>
          </a:xfrm>
          <a:custGeom>
            <a:avLst/>
            <a:gdLst/>
            <a:ahLst/>
            <a:cxnLst/>
            <a:rect r="r" b="b" t="t" l="l"/>
            <a:pathLst>
              <a:path h="4834732" w="5562977">
                <a:moveTo>
                  <a:pt x="0" y="0"/>
                </a:moveTo>
                <a:lnTo>
                  <a:pt x="5562977" y="0"/>
                </a:lnTo>
                <a:lnTo>
                  <a:pt x="5562977" y="4834732"/>
                </a:lnTo>
                <a:lnTo>
                  <a:pt x="0" y="48347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447303">
            <a:off x="12849015" y="-1974713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46448" y="4451231"/>
            <a:ext cx="9764265" cy="175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5"/>
              </a:lnSpc>
            </a:pPr>
            <a:r>
              <a:rPr lang="en-US" sz="6752">
                <a:solidFill>
                  <a:srgbClr val="BA8145"/>
                </a:solidFill>
                <a:latin typeface="Poppins"/>
                <a:ea typeface="Poppins"/>
                <a:cs typeface="Poppins"/>
                <a:sym typeface="Poppins"/>
              </a:rPr>
              <a:t>CONCLUSÃO DA EQUIPE 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10929">
            <a:off x="-728022" y="6567306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1" y="0"/>
                </a:lnTo>
                <a:lnTo>
                  <a:pt x="8261041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542793">
            <a:off x="13097588" y="6455407"/>
            <a:ext cx="5562977" cy="4834732"/>
          </a:xfrm>
          <a:custGeom>
            <a:avLst/>
            <a:gdLst/>
            <a:ahLst/>
            <a:cxnLst/>
            <a:rect r="r" b="b" t="t" l="l"/>
            <a:pathLst>
              <a:path h="4834732" w="5562977">
                <a:moveTo>
                  <a:pt x="0" y="0"/>
                </a:moveTo>
                <a:lnTo>
                  <a:pt x="5562977" y="0"/>
                </a:lnTo>
                <a:lnTo>
                  <a:pt x="5562977" y="4834732"/>
                </a:lnTo>
                <a:lnTo>
                  <a:pt x="0" y="48347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447303">
            <a:off x="12849015" y="-1974713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29143" y="2548956"/>
            <a:ext cx="13504397" cy="5357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67"/>
              </a:lnSpc>
              <a:spcBef>
                <a:spcPct val="0"/>
              </a:spcBef>
            </a:pPr>
            <a:r>
              <a:rPr lang="en-US" sz="4333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A experiência extensionista mostrou, de forma prática, o que significa trabalhar com um cliente real e assumir responsabilidades que vão além da sala de aula. O processo preparou a equipe para lidar com demandas concretas, comunicar-se com mais clareza e entender o impacto direto do próprio trabalho.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670" t="0" r="-36204" b="-409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447303">
            <a:off x="11857651" y="-1461409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542793">
            <a:off x="13206683" y="6537229"/>
            <a:ext cx="5562977" cy="4834732"/>
          </a:xfrm>
          <a:custGeom>
            <a:avLst/>
            <a:gdLst/>
            <a:ahLst/>
            <a:cxnLst/>
            <a:rect r="r" b="b" t="t" l="l"/>
            <a:pathLst>
              <a:path h="4834732" w="5562977">
                <a:moveTo>
                  <a:pt x="0" y="0"/>
                </a:moveTo>
                <a:lnTo>
                  <a:pt x="5562977" y="0"/>
                </a:lnTo>
                <a:lnTo>
                  <a:pt x="5562977" y="4834732"/>
                </a:lnTo>
                <a:lnTo>
                  <a:pt x="0" y="48347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66186" y="1971172"/>
            <a:ext cx="9000596" cy="94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5"/>
              </a:lnSpc>
            </a:pPr>
            <a:r>
              <a:rPr lang="en-US" b="true" sz="6752">
                <a:solidFill>
                  <a:srgbClr val="38B6FF"/>
                </a:solidFill>
                <a:latin typeface="Poppins Bold"/>
                <a:ea typeface="Poppins Bold"/>
                <a:cs typeface="Poppins Bold"/>
                <a:sym typeface="Poppins Bold"/>
              </a:rPr>
              <a:t>Agradecimento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66186" y="3547726"/>
            <a:ext cx="9806627" cy="5657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58"/>
              </a:lnSpc>
              <a:spcBef>
                <a:spcPct val="0"/>
              </a:spcBef>
            </a:pPr>
            <a:r>
              <a:rPr lang="en-US" sz="31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equipe agradece ao professor pelo direcionamento constante e pela clareza com que orientou cada etapa do projeto. Aos colegas, pelo empenho mútuo, pela colaboração e pela disposição em superar desafios juntos. E à cliente, pela comunicação aberta e pela confiança no trabalho desenvolvido, tornando possível a construção de uma aplicação alinhada às necessidades reais da biblioteca.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66782" y="9116520"/>
            <a:ext cx="7301664" cy="866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6"/>
              </a:lnSpc>
            </a:pPr>
            <a:r>
              <a:rPr lang="en-US" sz="6838">
                <a:solidFill>
                  <a:srgbClr val="FFFFFF"/>
                </a:solidFill>
                <a:latin typeface="Brittany"/>
                <a:ea typeface="Brittany"/>
                <a:cs typeface="Brittany"/>
                <a:sym typeface="Brittany"/>
              </a:rPr>
              <a:t>PUC MINAS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DAG6SEAFRA4</dc:identifier>
  <dcterms:modified xsi:type="dcterms:W3CDTF">2011-08-01T06:04:30Z</dcterms:modified>
  <cp:revision>1</cp:revision>
  <dc:title>APRESENTAÇÃO FINAL MEMORIOTECA </dc:title>
</cp:coreProperties>
</file>